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78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2835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ln w="19050">
            <a:solidFill>
              <a:srgbClr val="1B33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15600" y="-457200"/>
            <a:ext cx="2377440" cy="2377440"/>
          </a:xfrm>
          <a:prstGeom prst="ellipse">
            <a:avLst/>
          </a:prstGeom>
          <a:ln w="19050">
            <a:solidFill>
              <a:srgbClr val="23447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0" y="91440"/>
            <a:ext cx="1097280" cy="109728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字节跳动 · AI 创新挑战赛（CIS）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驱动的竞品分析</a:t>
            </a:r>
            <a:endParaRPr lang="en-US" sz="46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协作系统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40080" y="38862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Evidence-grounded · Schema-validated · Quality-controlled 的多 Agent 工作流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4709160"/>
            <a:ext cx="182880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983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团队　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不知道买啥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534924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成员</a:t>
            </a: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</a:t>
            </a:r>
            <a:r>
              <a:rPr lang="zh-CN" alt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王泽昊</a:t>
            </a: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</a:t>
            </a:r>
            <a:r>
              <a:rPr lang="en-US" altLang="zh-CN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4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架构</a:t>
            </a: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）　</a:t>
            </a:r>
            <a:r>
              <a:rPr lang="zh-CN" altLang="en-US" sz="1400" dirty="0">
                <a:solidFill>
                  <a:srgbClr val="CBD5E1"/>
                </a:solidFill>
                <a:latin typeface="Calibri" pitchFamily="34" charset="0"/>
                <a:cs typeface="Calibri" pitchFamily="34" charset="-120"/>
              </a:rPr>
              <a:t>喻博闻</a:t>
            </a: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</a:t>
            </a:r>
            <a:r>
              <a:rPr lang="zh-CN" alt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队长</a:t>
            </a: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4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</a:t>
            </a: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）　</a:t>
            </a:r>
            <a:r>
              <a:rPr lang="en-US" sz="14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盛世禾（全栈</a:t>
            </a: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57150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课题　</a:t>
            </a: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- AI 驱动的竞品分析 Agent 协作系统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89888" y="457200"/>
            <a:ext cx="10131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痛点：LLM 做竞品分析，最大的问题不是不会写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389888" y="1078992"/>
            <a:ext cx="10131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而是会一本正经地「编数据」——看起来很完整，却不能用于决策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0B1424"/>
          </a:solidFill>
          <a:ln/>
          <a:effectLst>
            <a:outerShdw blurRad="114300" dist="38100" dir="8100000" algn="bl" rotWithShape="0">
              <a:srgbClr val="0F172A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1691640"/>
            <a:ext cx="9966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「市占率 38%」「延迟 0.2ms」「用户好评 95%」—— 数字张口就来，没有出处，无法核实。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40080" y="3200400"/>
            <a:ext cx="3444240" cy="228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3200400"/>
            <a:ext cx="73152" cy="2286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3520440"/>
            <a:ext cx="289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编造数据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60120" y="4160520"/>
            <a:ext cx="289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凭空生成参数、市占率、好评率，无法溯源核实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358640" y="3200400"/>
            <a:ext cx="3444240" cy="228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58640" y="3200400"/>
            <a:ext cx="73152" cy="22860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4" name="Text 12"/>
          <p:cNvSpPr/>
          <p:nvPr/>
        </p:nvSpPr>
        <p:spPr>
          <a:xfrm>
            <a:off x="4678680" y="3520440"/>
            <a:ext cx="289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黑箱不可信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678680" y="4160520"/>
            <a:ext cx="289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一段文本直接出结论，过程不透明、无法追溯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077200" y="3200400"/>
            <a:ext cx="3444240" cy="228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77200" y="3200400"/>
            <a:ext cx="73152" cy="22860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8397240" y="3520440"/>
            <a:ext cx="289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不敢用于决策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397240" y="4160520"/>
            <a:ext cx="289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看着完整，但每条都要人工再查一遍，等于没省事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不知道买啥 · 竞品分析 Agent 协作系统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89888" y="457200"/>
            <a:ext cx="10131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解决方案：一个会「分工协作 + 互相质检 + 逐条溯源」的调研小组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389888" y="1078992"/>
            <a:ext cx="10131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不做一键生成报告的黑箱，而做一套证据驱动的多 Agent 工作流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521208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60120" y="2194560"/>
            <a:ext cx="640080" cy="64008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828800" y="21488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个专业 Agent 协作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828800" y="2724912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采集 → 证据 → 产品/商业(并行) → 校验 → 风险 → 质检 → 策略，各司其职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09360" y="1828800"/>
            <a:ext cx="521208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629400" y="2194560"/>
            <a:ext cx="640080" cy="64008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3" name="Text 11"/>
          <p:cNvSpPr/>
          <p:nvPr/>
        </p:nvSpPr>
        <p:spPr>
          <a:xfrm>
            <a:off x="662940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498080" y="21488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每个结论都能溯源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498080" y="2724912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结论必须引用证据 ID，点开即可跳回原始出处，逐条可核对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931920"/>
            <a:ext cx="521208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60120" y="4297680"/>
            <a:ext cx="640080" cy="64008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4297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828800" y="42519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质检不通过就打回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828800" y="4828032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真反馈闭环：质量不达标自动重试，三次不过转人工，绝不强制通过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309360" y="3931920"/>
            <a:ext cx="5212080" cy="1783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629400" y="4297680"/>
            <a:ext cx="640080" cy="64008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23" name="Text 21"/>
          <p:cNvSpPr/>
          <p:nvPr/>
        </p:nvSpPr>
        <p:spPr>
          <a:xfrm>
            <a:off x="6629400" y="4297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498080" y="42519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三档可切换数据源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498080" y="4828032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/ 公开数据库 / 实时爬虫，一键切换，对上层 Agent 透明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不知道买啥 · 竞品分析 Agent 协作系统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89888" y="457200"/>
            <a:ext cx="10131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系统架构：前端 → 后端 → 编排层 → 数据层 → 外部大模型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8046720" cy="8961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783080"/>
            <a:ext cx="1920240" cy="89611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83080"/>
            <a:ext cx="1737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前端层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2788920" y="1783080"/>
            <a:ext cx="57150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+ TypeScript + Tailwind　·　9 个页面，自研 CSS/SVG 可视化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2679192"/>
            <a:ext cx="0" cy="256032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40080" y="2935224"/>
            <a:ext cx="8046720" cy="8961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935224"/>
            <a:ext cx="1920240" cy="89611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935224"/>
            <a:ext cx="1737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后端层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2788920" y="2935224"/>
            <a:ext cx="57150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Uvicorn　·　任务编排、状态查询、报告与中间产物只读接口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3831336"/>
            <a:ext cx="0" cy="256032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40080" y="4087368"/>
            <a:ext cx="8046720" cy="8961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4087368"/>
            <a:ext cx="1920240" cy="89611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087368"/>
            <a:ext cx="1737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编排层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2788920" y="4087368"/>
            <a:ext cx="57150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StateGraph　·　8 Agent DAG · 条件路由 · 并行分支 · 质检重试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4983480"/>
            <a:ext cx="0" cy="256032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40080" y="5239512"/>
            <a:ext cx="8046720" cy="8961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5239512"/>
            <a:ext cx="1920240" cy="89611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5239512"/>
            <a:ext cx="17373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 / 数据层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2788920" y="5239512"/>
            <a:ext cx="57150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ResearchProvider 工厂(mock/database/crawler) · 反幻觉校验 · 上下文管理 · 指标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235440" y="1783080"/>
            <a:ext cx="2286000" cy="4352544"/>
          </a:xfrm>
          <a:prstGeom prst="roundRect">
            <a:avLst>
              <a:gd name="adj" fmla="val 4000"/>
            </a:avLst>
          </a:prstGeom>
          <a:solidFill>
            <a:srgbClr val="0B1424"/>
          </a:solidFill>
          <a:ln/>
          <a:effectLst>
            <a:outerShdw blurRad="114300" dist="38100" dir="8100000" algn="bl" rotWithShape="0">
              <a:srgbClr val="0F172A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235440" y="2148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外部大模型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235440" y="2743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Doubao-Seed-2.0-lite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235440" y="32461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火山方舟 Ark API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langchain_openai 接入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235440" y="4251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证据接地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不用向量库 / RAG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不知道买啥 · 竞品分析 Agent 协作系统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89888" y="457200"/>
            <a:ext cx="10131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工作流：一条可质检、可回退的 DAG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389888" y="1078992"/>
            <a:ext cx="10131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之间传递经 Schema 校验的结构化消息，而非自由文本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58368" y="2788920"/>
            <a:ext cx="1298448" cy="713232"/>
          </a:xfrm>
          <a:prstGeom prst="roundRect">
            <a:avLst>
              <a:gd name="adj" fmla="val 10256"/>
            </a:avLst>
          </a:prstGeom>
          <a:solidFill>
            <a:srgbClr val="13233A"/>
          </a:solidFill>
          <a:ln/>
          <a:effectLst>
            <a:outerShdw blurRad="114300" dist="38100" dir="8100000" algn="bl" rotWithShape="0">
              <a:srgbClr val="0F172A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2862072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调研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8368" y="320040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267712" y="2788920"/>
            <a:ext cx="1298448" cy="713232"/>
          </a:xfrm>
          <a:prstGeom prst="roundRect">
            <a:avLst>
              <a:gd name="adj" fmla="val 10256"/>
            </a:avLst>
          </a:prstGeom>
          <a:solidFill>
            <a:srgbClr val="13233A"/>
          </a:solidFill>
          <a:ln/>
          <a:effectLst>
            <a:outerShdw blurRad="114300" dist="38100" dir="8100000" algn="bl" rotWithShape="0">
              <a:srgbClr val="0F172A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267712" y="2862072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证据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267712" y="320040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877056" y="2331720"/>
            <a:ext cx="1298448" cy="566928"/>
          </a:xfrm>
          <a:prstGeom prst="roundRect">
            <a:avLst>
              <a:gd name="adj" fmla="val 9677"/>
            </a:avLst>
          </a:prstGeom>
          <a:solidFill>
            <a:srgbClr val="0891B2"/>
          </a:solidFill>
          <a:ln/>
          <a:effectLst>
            <a:outerShdw blurRad="114300" dist="38100" dir="8100000" algn="bl" rotWithShape="0">
              <a:srgbClr val="0F172A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877056" y="2331720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 Product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877056" y="3392424"/>
            <a:ext cx="1298448" cy="566928"/>
          </a:xfrm>
          <a:prstGeom prst="roundRect">
            <a:avLst>
              <a:gd name="adj" fmla="val 9677"/>
            </a:avLst>
          </a:prstGeom>
          <a:solidFill>
            <a:srgbClr val="0891B2"/>
          </a:solidFill>
          <a:ln/>
          <a:effectLst>
            <a:outerShdw blurRad="114300" dist="38100" dir="8100000" algn="bl" rotWithShape="0">
              <a:srgbClr val="0F172A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77056" y="3392424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商业 Business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0" y="2788920"/>
            <a:ext cx="1298448" cy="713232"/>
          </a:xfrm>
          <a:prstGeom prst="roundRect">
            <a:avLst>
              <a:gd name="adj" fmla="val 10256"/>
            </a:avLst>
          </a:prstGeom>
          <a:solidFill>
            <a:srgbClr val="13233A"/>
          </a:solidFill>
          <a:ln/>
          <a:effectLst>
            <a:outerShdw blurRad="114300" dist="38100" dir="8100000" algn="bl" rotWithShape="0">
              <a:srgbClr val="0F172A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0" y="2862072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校验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0" y="320040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095744" y="2788920"/>
            <a:ext cx="1298448" cy="713232"/>
          </a:xfrm>
          <a:prstGeom prst="roundRect">
            <a:avLst>
              <a:gd name="adj" fmla="val 10256"/>
            </a:avLst>
          </a:prstGeom>
          <a:solidFill>
            <a:srgbClr val="13233A"/>
          </a:solidFill>
          <a:ln/>
          <a:effectLst>
            <a:outerShdw blurRad="114300" dist="38100" dir="8100000" algn="bl" rotWithShape="0">
              <a:srgbClr val="0F172A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095744" y="2862072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风险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095744" y="320040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705088" y="2788920"/>
            <a:ext cx="1298448" cy="713232"/>
          </a:xfrm>
          <a:prstGeom prst="roundRect">
            <a:avLst>
              <a:gd name="adj" fmla="val 10256"/>
            </a:avLst>
          </a:prstGeom>
          <a:solidFill>
            <a:srgbClr val="06B6D4"/>
          </a:solidFill>
          <a:ln/>
          <a:effectLst>
            <a:outerShdw blurRad="114300" dist="38100" dir="8100000" algn="bl" rotWithShape="0">
              <a:srgbClr val="0F172A">
                <a:alpha val="1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705088" y="2862072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质检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705088" y="320040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0314432" y="2788920"/>
            <a:ext cx="1298448" cy="713232"/>
          </a:xfrm>
          <a:prstGeom prst="roundRect">
            <a:avLst>
              <a:gd name="adj" fmla="val 10256"/>
            </a:avLst>
          </a:prstGeom>
          <a:solidFill>
            <a:srgbClr val="10B981"/>
          </a:solidFill>
          <a:ln/>
          <a:effectLst>
            <a:outerShdw blurRad="114300" dist="38100" dir="8100000" algn="bl" rotWithShape="0">
              <a:srgbClr val="0F172A">
                <a:alpha val="1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0314432" y="2862072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策略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314432" y="320040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956816" y="3145536"/>
            <a:ext cx="310896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566160" y="3145536"/>
            <a:ext cx="310896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175504" y="3145536"/>
            <a:ext cx="310896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784848" y="3145536"/>
            <a:ext cx="310896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8394192" y="3145536"/>
            <a:ext cx="310896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10003536" y="3145536"/>
            <a:ext cx="310896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9912096" y="2496312"/>
            <a:ext cx="676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58368" y="4526280"/>
            <a:ext cx="10863072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58368" y="4526280"/>
            <a:ext cx="73152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914400" y="4636008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质检不通过　</a:t>
            </a: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按目标 Agent 自动重试（最多 3 次）→ 三次仍不过 → 转人工复核，输出「低置信草稿 + 待办事项」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14400" y="50749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核心原则：系统绝不在证据不足时强制通过，也绝不让策略 Agent 生成无证据支撑的报告。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不知道买啥 · 竞品分析 Agent 协作系统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89888" y="457200"/>
            <a:ext cx="10131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亮点 ①　双层反幻觉：从机制上杜绝「编造数据」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389888" y="1078992"/>
            <a:ext cx="10131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可信度不是靠 Prompt 求模型「别瞎说」，而是用确定性规则强校验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5212080" cy="2468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874520"/>
            <a:ext cx="5212080" cy="914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2402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2011680" y="23317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第一层　引用有效性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005840" y="324612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每条结论（claim）必须引用一个已存在的证据 ID。凭空捏造、没有出处的结论，根本进不了报告。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309360" y="1874520"/>
            <a:ext cx="5212080" cy="2468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09360" y="1874520"/>
            <a:ext cx="5212080" cy="9144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0" y="22402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7680960" y="23317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第二层　数值接地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675120" y="324612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结论里出现的每一个数字（如「47 克」「0.5ms」），必须能在它所引用的证据原文中找到，否则直接判为硬失败。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461772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0B1424"/>
          </a:solidFill>
          <a:ln/>
          <a:effectLst>
            <a:outerShdw blurRad="114300" dist="38100" dir="8100000" algn="bl" rotWithShape="0">
              <a:srgbClr val="0F172A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51560" y="4617720"/>
            <a:ext cx="10058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为什么是杀手锏：</a:t>
            </a: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「编造统计数据」是 LLM 最致命、也最难防的问题。我们把它变成一条可自动执行的硬规则——这正是本项目区别于普通 LLM 报告生成器的核心。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不知道买啥 · 竞品分析 Agent 协作系统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89888" y="457200"/>
            <a:ext cx="10131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亮点 ②　真反馈闭环 + 人工兜底，拒绝 force pass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389888" y="1078992"/>
            <a:ext cx="10131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质检不是走过场，而是能把任务打回去重做的真实关卡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3413760" cy="228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981200" y="2286000"/>
            <a:ext cx="731520" cy="73152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198120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1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68680" y="3154680"/>
            <a:ext cx="295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规则化质检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14400" y="3584448"/>
            <a:ext cx="286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检查维度覆盖、平台覆盖、引用有效性、数值忠实度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008120" y="28346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373880" y="1920240"/>
            <a:ext cx="3413760" cy="228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715000" y="2286000"/>
            <a:ext cx="731520" cy="73152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4" name="Text 12"/>
          <p:cNvSpPr/>
          <p:nvPr/>
        </p:nvSpPr>
        <p:spPr>
          <a:xfrm>
            <a:off x="571500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1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602480" y="3154680"/>
            <a:ext cx="295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自动重试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648200" y="3584448"/>
            <a:ext cx="286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不达标 → 列出缺口与待办 → 打回对应 Agent，最多 3 次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741920" y="28346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8107680" y="1920240"/>
            <a:ext cx="3413760" cy="228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448800" y="2286000"/>
            <a:ext cx="731520" cy="7315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944880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1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336280" y="3154680"/>
            <a:ext cx="295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人工兜底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382000" y="3584448"/>
            <a:ext cx="286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三次仍不过 → 转人工复核，输出明确标注「低置信」的草稿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457200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0B1424"/>
          </a:solidFill>
          <a:ln/>
          <a:effectLst>
            <a:outerShdw blurRad="114300" dist="38100" dir="8100000" algn="bl" rotWithShape="0">
              <a:srgbClr val="0F172A">
                <a:alpha val="1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51560" y="468172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「宁可承认不确定，也不假装确定。」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51560" y="510235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对一个要支撑业务决策的系统，这是底线——也是工程上避免反馈死循环（设最大迭代）与牺牲可信度之间的平衡点。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不知道买啥 · 竞品分析 Agent 协作系统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89888" y="457200"/>
            <a:ext cx="10131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亮点 ③　三档可切换数据源 + 自研爬虫管线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389888" y="1078992"/>
            <a:ext cx="10131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统一的数据结构，对上层 Agent 透明；Demo 默认走公开数据库，稳定且合规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1088136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874520"/>
            <a:ext cx="91440" cy="10515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03911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实时爬虫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24963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66160" y="1874520"/>
            <a:ext cx="7680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httpx 下载 + UA 轮换 + 限速重试 · trafilatura 正文抽取 · 缓存 · 维度分类 · 反爬页面过滤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127248"/>
            <a:ext cx="1088136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3127248"/>
            <a:ext cx="91440" cy="10515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291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公开数据库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3749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66160" y="3127248"/>
            <a:ext cx="6309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本地整理的公开竞品数据（鼠标/键盘/耳机），稳定、不依赖外网、合规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0104120" y="3474720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10104120" y="347472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默认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4379976"/>
            <a:ext cx="1088136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4379976"/>
            <a:ext cx="91440" cy="105156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45445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模拟数据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05840" y="50017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566160" y="4379976"/>
            <a:ext cx="7680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确定性模拟，无需网络与密钥，用于纯流程测试与降级兜底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55321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工程难点对应「数据清洗」：网页噪声大，用「抽取 + 过滤 + 维度归类」三步，把脏数据收敛成结构化证据。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不知道买啥 · 竞品分析 Agent 协作系统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89888" y="457200"/>
            <a:ext cx="10131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核心技术栈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881360" cy="676656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783080"/>
            <a:ext cx="2194560" cy="67665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83080"/>
            <a:ext cx="201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063240" y="1783080"/>
            <a:ext cx="8275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TypeScript + Vite + TailwindCSS（图表/动画全自研 CSS/SVG，无第三方图表库）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569464"/>
            <a:ext cx="10881360" cy="676656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569464"/>
            <a:ext cx="2194560" cy="676656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569464"/>
            <a:ext cx="201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后端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063240" y="2569464"/>
            <a:ext cx="8275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FastAPI + Uvicorn（线程 + 内存任务表，轻量，无外部队列依赖）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355848"/>
            <a:ext cx="10881360" cy="676656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355848"/>
            <a:ext cx="2194560" cy="67665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355848"/>
            <a:ext cx="201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编排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063240" y="3355848"/>
            <a:ext cx="8275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LangGraph：StateGraph / 条件路由 / 并行分支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4142232"/>
            <a:ext cx="10881360" cy="676656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4142232"/>
            <a:ext cx="2194560" cy="676656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142232"/>
            <a:ext cx="201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大模型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063240" y="4142232"/>
            <a:ext cx="8275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Doubao-Seed-2.0-lite（火山方舟 Ark API），经 langchain_openai 接入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40080" y="4928616"/>
            <a:ext cx="10881360" cy="676656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4928616"/>
            <a:ext cx="2194560" cy="67665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928616"/>
            <a:ext cx="201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 / 采集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063240" y="4928616"/>
            <a:ext cx="8275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预载公开数据 + SQLite · httpx + trafilatura + 维度分类 + 缓存 + 反爬过滤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40080" y="5715000"/>
            <a:ext cx="10881360" cy="676656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5715000"/>
            <a:ext cx="2194560" cy="676656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5715000"/>
            <a:ext cx="201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可观测 / 校验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063240" y="5715000"/>
            <a:ext cx="8275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自建 trace_log 全链路轨迹 · faithfulness 反幻觉 · context_manager 上下文管理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不知道买啥 · 竞品分析 Agent 协作系统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89888" y="457200"/>
            <a:ext cx="10131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关键工程难点与解决方案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25780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783080"/>
            <a:ext cx="73152" cy="1188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929384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大模型幻觉 / 编数据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14400" y="235000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双层抑制：强制引用已存在证据 ID + 数值接地校验（数字须在原文出现，否则硬失败）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25780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63640" y="1783080"/>
            <a:ext cx="73152" cy="1188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929384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长证据上下文爆窗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537960" y="235000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context_manager 按可信度排序、按维度限量、截断长文，防「lost in the middle」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154680"/>
            <a:ext cx="525780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154680"/>
            <a:ext cx="73152" cy="1188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300984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反馈闭环死循环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914400" y="372160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质检设最大迭代 3 次，超限转人工低置信草稿，平衡稳定性与可信度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63640" y="3154680"/>
            <a:ext cx="525780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63640" y="3154680"/>
            <a:ext cx="73152" cy="1188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9" name="Text 17"/>
          <p:cNvSpPr/>
          <p:nvPr/>
        </p:nvSpPr>
        <p:spPr>
          <a:xfrm>
            <a:off x="6537960" y="3300984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并行分支状态冲突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6537960" y="372160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/ Business 各自只回写自己拥有的字段，避免并行写入互相覆盖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4526280"/>
            <a:ext cx="525780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8100000" algn="bl" rotWithShape="0">
              <a:srgbClr val="0F172A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" y="4526280"/>
            <a:ext cx="73152" cy="1188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4672584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输出 JSON 不稳定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914400" y="509320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围栏剥离 + 平衡括号扫描提取 + Schema 校验 + 失败确定性回退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不知道买啥 · 竞品分析 Agent 协作系统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89888" y="457200"/>
            <a:ext cx="10131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项目完成度：可用 Demo（本地端到端跑通）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389888" y="1078992"/>
            <a:ext cx="10131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从输入需求到产出可溯源报告，全流程已打通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2514600" cy="1737360"/>
          </a:xfrm>
          <a:prstGeom prst="rect">
            <a:avLst/>
          </a:prstGeom>
          <a:solidFill>
            <a:srgbClr val="0B1424"/>
          </a:solidFill>
          <a:ln/>
          <a:effectLst>
            <a:outerShdw blurRad="114300" dist="38100" dir="8100000" algn="bl" rotWithShape="0">
              <a:srgbClr val="0F172A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10312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640080" y="30632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专业 Agent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29000" y="1920240"/>
            <a:ext cx="2514600" cy="1737360"/>
          </a:xfrm>
          <a:prstGeom prst="rect">
            <a:avLst/>
          </a:prstGeom>
          <a:solidFill>
            <a:srgbClr val="0B1424"/>
          </a:solidFill>
          <a:ln/>
          <a:effectLst>
            <a:outerShdw blurRad="114300" dist="38100" dir="8100000" algn="bl" rotWithShape="0">
              <a:srgbClr val="0F172A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29000" y="210312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3429000" y="30632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覆盖品类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1920240"/>
            <a:ext cx="2514600" cy="1737360"/>
          </a:xfrm>
          <a:prstGeom prst="rect">
            <a:avLst/>
          </a:prstGeom>
          <a:solidFill>
            <a:srgbClr val="0B1424"/>
          </a:solidFill>
          <a:ln/>
          <a:effectLst>
            <a:outerShdw blurRad="114300" dist="38100" dir="8100000" algn="bl" rotWithShape="0">
              <a:srgbClr val="0F172A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210312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6217920" y="30632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数据源档位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006840" y="1920240"/>
            <a:ext cx="2514600" cy="1737360"/>
          </a:xfrm>
          <a:prstGeom prst="rect">
            <a:avLst/>
          </a:prstGeom>
          <a:solidFill>
            <a:srgbClr val="0B1424"/>
          </a:solidFill>
          <a:ln/>
          <a:effectLst>
            <a:outerShdw blurRad="114300" dist="38100" dir="8100000" algn="bl" rotWithShape="0">
              <a:srgbClr val="0F172A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006840" y="210312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5200" dirty="0"/>
          </a:p>
        </p:txBody>
      </p:sp>
      <p:sp>
        <p:nvSpPr>
          <p:cNvPr id="17" name="Text 15"/>
          <p:cNvSpPr/>
          <p:nvPr/>
        </p:nvSpPr>
        <p:spPr>
          <a:xfrm>
            <a:off x="9006840" y="30632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后端测试脚本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402336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4023360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端到端演示路径　</a:t>
            </a: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登录 → 选题/新建分析 → Agent 工作流 → 证据中心 → 结论追踪 → 质量审查 → 最终报告 → 指标看板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51206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说明：为密钥安全与现场稳定，采用本地运行 + 录屏演示；评委可按 README 在本地完整复现。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不知道买啥 · 竞品分析 Agent 协作系统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206240"/>
            <a:ext cx="3840480" cy="3840480"/>
          </a:xfrm>
          <a:prstGeom prst="ellipse">
            <a:avLst/>
          </a:prstGeom>
          <a:ln w="19050">
            <a:solidFill>
              <a:srgbClr val="1B33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-914400"/>
            <a:ext cx="3108960" cy="3108960"/>
          </a:xfrm>
          <a:prstGeom prst="ellipse">
            <a:avLst/>
          </a:prstGeom>
          <a:ln w="19050">
            <a:solidFill>
              <a:srgbClr val="23447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77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三个创新点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182880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965960"/>
            <a:ext cx="502920" cy="50292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1874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可信度工程化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71600" y="2331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双层反幻觉，尤其数值接地，从机制上杜绝编造数据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017520"/>
            <a:ext cx="502920" cy="50292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2926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真反馈闭环 + 人工兜底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371600" y="3383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质检打回重试，三次不过转人工草稿，绝不强制通过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069080"/>
            <a:ext cx="502920" cy="50292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1600" y="3977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面向真实规模的工程化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71600" y="4434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三档数据源、上下文管理、Schema 全程校验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5440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谢谢评委老师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40080" y="61264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团队「不知道买啥」 · github.com/lnkloveating/competitive-analysis-agent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817</Words>
  <Application>Microsoft Office PowerPoint</Application>
  <PresentationFormat>Widescreen</PresentationFormat>
  <Paragraphs>181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驱动的竞品分析 Agent 协作系统</dc:title>
  <dc:subject>PptxGenJS Presentation</dc:subject>
  <dc:creator>不知道买啥</dc:creator>
  <cp:lastModifiedBy>zehao wang</cp:lastModifiedBy>
  <cp:revision>2</cp:revision>
  <dcterms:created xsi:type="dcterms:W3CDTF">2026-06-10T08:10:01Z</dcterms:created>
  <dcterms:modified xsi:type="dcterms:W3CDTF">2026-06-10T08:15:54Z</dcterms:modified>
</cp:coreProperties>
</file>
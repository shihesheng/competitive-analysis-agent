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开场一句话：我们做的是一套像数字调研小组一样工作的多 Agent 系统——输入两款电竞鼠标，系统自动完成产品识别、数据采集、证据结构化、事实校验、质量门控，最后产出可追溯的竞品报告。
强调三件事：(1) LangGraph 编排的真 DAG，不是聊天式 Agent；(2) 每条结论都绑定 evidence_id，可溯源、不编造；(3) 选电竞鼠标这个垂直场景是为了用专业 Schema 展示结构化深度，同时主流程可换行业复用。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讲解：每个成员都围绕同一条数据链路负责一段，而不是简单按页面分。前端负责把 Agent 协作过程“可视化、可追溯、可干预”；后端负责 DAG 编排和结构稳定；采集组负责让数据真实可得且分级可信；Demo 组负责材料与合规。
个人陈述时各自补充自己最难的一个技术点（如前端讲 DAG 可视化与人工修正闭环，采集组讲反爬降级与 reader 取正文）。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核心论点：竞品分析天然是“多源采集 + 结构化对齐 + 校验”的流水线，正好适合拆成专职 Agent。人工做的三个痛点（来源散、对齐贵、结论无溯源），我们分别用 MCP 采集、专业 Schema、Evidence 绑定来解。
这一页奠定全场叙事：我们不是为了用 Agent 而用 Agent，而是这个问题本身就该这么拆。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回答“为什么不做通用竞品分析”：通用 Schema 太泛，难以展示专业字段与分级可信；电竞鼠标字段明确、且体验/价格强依赖外部实时证据，正好能展示采集+校验+溯源的完整能力。
同时强调可拓展：专业不等于不可迁移——ResearchAgent 按 Schema 规划数据需求，换成短视频/SaaS/电商只需替换专业 Schema，Agent 协作主流程复用。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三层：前端把 Agent 过程可视化；后端用 LangGraph 编排并保证结构稳定；数据层用本地事实 + MCP/LLM 实时采集。
要点：外部服务只用 DeepSeek（OpenAI 兼容）+ Tavily 官方搜索 API + LangSmith trace，前端图表全部自研 CSS/SVG，无第三方图表/动画库，轻量可控。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这是全场最重要的一页。强调：(1) 用 LangGraph StateGraph 真编排，节点之间靠结构化 state 传递，不是自然语言对话；(2) quality_router 是条件边，能把不合格的工作打回上游具体 Agent 重做（research/collector/evidence/analysis），MAX_ITERATIONS=3；(3) SWOT 我们做成了 DAG 上的一等节点，挂在 Quality→Report 的前进路径，只跑一次、且在校验之后，所以数据最干净，重试循环不会重复触发它。
Q&amp;A 防御：‘是不是伪闭环？’——现场可演示故意制造证据不足触发打回，重做后 metrics 改善。‘为什么 8 个框？’——7 个核心 Agent + SWOT AI 解读节点。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逐个点出“边界”：Research 不爬数据；Collector 不下结论；Evidence 不推荐；Analysis 只动有证据的；Verification 只判真假；Quality 只算可信度和路由；Report 只汇总已验证。
这种单一职责让反馈闭环可定位——Quality 打回时能精确指到是哪个上游 Agent 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强调评分点：Agent 之间不是把自然语言丢来丢去，而是读写同一个 TypedDict State 的固定字段，并用 reducer 控制合并（merge_claims 去重保留首条、merge_trace_log 去重重排步号、merge_dict 合并）。
LLM 的输出也被强制成结构化 JSON 再并入 state。这就是评委要的‘结构化消息传递，非纯自然语言对话’。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说明我们做了 schema 收敛：删掉旧的泛化 report，统一成 GamingMouseFinalReportSchema，包含功能树、定价模型、用户画像、证据链等模块，ReportAgent 输出过 Pydantic 校验（run_node 用 ReportAgentOutput 校验 final_report）。extra=allow 是为了平滑加新字段（如 scenario_recommendations、analysis_ai_interpretation）。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讲清两层：命中本地库就直接用稳定事实（高可信、即时）；没命中才走搜索找官网候选，再由 OfficialSpec 抽取规格。
反复强调‘SearchMCP 只找候选、不写硬件字段’——这是我们刻意的职责切分，避免把搜索摘要当成事实，是防幻觉的第一道闸。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这一页回应一个常见质疑：‘是不是把答案写死在 JSON 里？’。我们明确区分：只有相对稳定的硬件事实进本地库当高可信底座；价格/评价/体验全部走实时采集，抓不到就标缺失。
这既是工程合理性，也是可信度设计。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 MCP 各司其职。要点：(1) 分级可信，官网&gt;电商&gt;搜索摘要；(2) 反爬不绕过、只标记降级；(3) 所有来源最终都变成统一的 evidence，下游 Verification/Quality 一视同仁。
ReviewIntel 是我们这次重点优化的：接了 reader 代理取正文（绕反爬、读视频字幕）、Reddit 接口、跨源交叉印证，实测 Viper 从 0 → 7 个维度全覆盖。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划清 LLM 的能力边界：流程编排、ID 校验、评分这些确定性工作用规则；只有非结构化文本 → 结构化这件事交给 LLM。并且强约束：必须基于给定证据、必须返回 JSON、必须带 source_ids。
这是我们抑制幻觉的核心理念——LLM 是‘抽取器/总结器’，不是‘事实来源’。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可追溯是我们对‘输出可信度’的核心兑现。Claim 通过 evidence_ids 指向 Evidence，前端 Evidence 表里 source_url 可点击跳转原始来源。
三条铁律：没证据不进推荐、低可信必标注、缺数据必披露。这页配合 Demo 里点开 Evidence 表演示。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两层 grounding：数字对不上是硬失败（直接踢出报告并触发质检），词面覆盖低只是弱支撑（保留但降可信，避免误杀转述）。还有两个特判：价格类按来源可信度判，人工反馈不能‘自己引用自己’当事实。
Q&amp;A：‘怎么防幻觉？’——LLM 只抽取、结论必绑 evidence_id、数值必须可在证据中验证、Verification 拦截、Quality 降级，四道闸。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两件事：(1) 分数是数据驱动的报告可信度，不是写死——给出公式：90 减去失败检查、风险、缺维度、pending 惩罚；现场可演示不同输入分数不同。(2) 闭环是真的：能打回具体上游 Agent；达上限不卡死而是 partial_report 并披露。
防御点：我们专门修了‘人工输入刷分’——人工证据被排除在维度覆盖统计外，且只算弱支撑，所以现场随便输入一句话不会让分数虚高。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这是产品体验 + 反馈闭环的亮点，也是现场最好互动的环节。逻辑：人工输入不直接改报告，而是转成 HF evidence + HCL claim，重新跑校验→质检→SWOT→报告。
两个诚实性设计（我们专门加固过）：(1) 人工输入默认低可信、待验证，必须有非人工证据同向才算支撑；(2) SWOT 引用的证据会和真实 evidence 取交集，虚构的 EV 编号被剔除、未绑定证据的 point 标‘待绑定’。所以现场输入不会污染报告、也不会刷分。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四个核心页对应‘报告查看、溯源跳转、人工介入、决策回放’四个评分动作。产品输入页刻意不预渲染结果，强调‘分析是 Agent 跑出来的’。
风格上明确不做营销路演风，而是工程工具风：深色、高密度、可点开每个 Agent 看它的输入输出和证据。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强调分层：Agent=流程节点、Service=可复用能力、Schema=结构契约。所有 Agent 都过 run_node 包一层——单个 Agent 抛异常不会炸整个图，而是记 trace+error_log 并降级继续。
这点很重要：体现了工程完整度里的‘错误恢复/降级’。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context_manager.select_evidence_context 按当前 Agent 任务挑相关证据，限制条数/每维度条数/每条字符数。ReviewIntel 里还有长文本的关键词密度抽取，既防 LLM 超时也提升信号密度。
这对应评分里的‘超长上下文分片/裁剪’策略。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价格是最容易出脏数据的地方。我们做了离群过滤（分期 $22/月、配件价会污染中位数）+ 锚定中位价。可信度严格分级，缺一方就不下性价比结论。
合规叙事：反爬不绕过、只降级标记，这点对应 10% 合规维度，也是诚实性卖点。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双路线是这次的亮点：GPX2 走人工整理入库的本地评价库（即时、满维度、可控），Viper 走真实爬虫（search→reader 取正文→LLM 抽取）。reader 代理能绕反爬、读视频字幕，配合跨源交叉印证，实测 Viper 7 维度全 high。
信号分级：≥2 独立来源才升 high。这页 demo 时正好展示‘两条路线、同一种结构化产物’。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产品形态上的关键判断：单一赢家是反专业的。我们改成按场景推荐（scenario_recommendations），每个场景独立给结论与可信度，缺证据的场景标 data_missing 而不是硬凑。
这既贴合真实选购决策，也呼应‘有证据才推荐’的可信度原则。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演示编排：A 路线先展示本地命中的即时高可信（GPX2），B 路线展示真实 MCP 采集（Viper）。中间依次点开 Collector/Evidence/Verification/Quality，最后在 Analysis 页提交一条人工反馈，回到报告看场景推荐更新。
提示：B 路线冷启动约 60-90s，建议提前预热让缓存变热，或用 5 分钟录屏兜底防断网。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左边是功能完成度清单（全部已落地）。右边四个可量化卖点：分钟级 vs 人工数小时、100% 结论可溯源、7 个场景维度、0 伪造（抓不到就降级披露）。
注意措辞：分钟级是流程自动化的量级对比；可信度类指标（citation_rate/coverage_rate/faithfulness_rate）由 metrics_service 实时算出，可在报告页展示。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诚实表述：trace_log/耗时/错误已经有；LangSmith 已开，能看到每个 LLM 调用的 prompt/输出/token/耗时——现场演示直接打开 LangSmith 面板即可回答‘token 怎么观测’。
项目内 Token 看板是规划项（已留接口位）。不要把规划说成已完成，但要展示 LangSmith 实证。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合规四点：只采公开信息、反爬不绕过只降级、不碰隐私、Key 不入仓。来源全程留 source_url + 可信度，可回溯。
主动披露已知限制（视频 API 受限、电商价区域差异、搜索摘要不算强证据），把‘抓得少’讲成‘诚实分级’而非缺陷。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这页很加分——展示我们踩过的真实坑和工程化解决，体现‘不是 demo 玩具’。每一条都是真发生过的：早期像写死、mock 证据、搜索当事实、非本地不能分析、LLM 编造、前端过载。
对应评分里的工程完整度、错误恢复、幻觉抑制。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收尾的‘自证’页：把每个权重档位对应到我们的具体实现。35% 是我们最强项（真 DAG + 闭环 + 可追溯），25% 有 MCP/LLM/裁剪/防幻觉/可观测，20% 有自动化+专业 Schema+场景推荐+人工修正，10%+10% 文档与合规齐备。
讲的时候按权重顺序，从大到小。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把‘选垂直’的质疑转成‘可拓展’的优势：主流程（Agent DAG + 证据/校验/质检/报告）行业无关，换行业只替换专业 Schema 和数据需求配置，ResearchAgent 自动按新 Schema 规划。
这就是‘专业 + 可迁移’的平衡。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提醒团队答辩前 checklist：仓库、README、架构图、协议/Schema 文档、合规声明、5 分钟录屏都要齐。录屏按这 7 步走一遍，作为现场断网的兜底。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问答主战场。每个回答都要落到代码事实：防幻觉=evidence_id+grounding+Verification+Quality 四道闸；打回=quality_router 条件边；刷分=人工证据排除在覆盖统计外。
如果被追问 token/可观测，打开 LangSmith；被追问反爬合规，引用合规页；被追问伪闭环，现场制造证据不足触发打回。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收尾：一句话强调差异点——‘一套可追溯、不编造、能换行业的多 Agent 竞品分析系统’，并邀请评委现场体验 Demo 或扫码看录屏。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897112" y="1490472"/>
            <a:ext cx="548640" cy="137160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262872" y="1490472"/>
            <a:ext cx="182880" cy="292608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5752" y="1490472"/>
            <a:ext cx="1920240" cy="146304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360152" y="2221992"/>
            <a:ext cx="274320" cy="146304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634472" y="1399032"/>
            <a:ext cx="457200" cy="82296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7112" y="2862072"/>
            <a:ext cx="365760" cy="155448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97112" y="2862072"/>
            <a:ext cx="2468880" cy="9144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360152" y="1399032"/>
            <a:ext cx="731520" cy="228600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262872" y="2953512"/>
            <a:ext cx="2103120" cy="146304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1371600"/>
            <a:ext cx="237744" cy="237744"/>
          </a:xfrm>
          <a:prstGeom prst="ellipse">
            <a:avLst/>
          </a:prstGeom>
          <a:solidFill>
            <a:srgbClr val="38BDF8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0" y="2103120"/>
            <a:ext cx="237744" cy="23774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2743200"/>
            <a:ext cx="237744" cy="237744"/>
          </a:xfrm>
          <a:prstGeom prst="ellipse">
            <a:avLst/>
          </a:prstGeom>
          <a:solidFill>
            <a:srgbClr val="38BDF8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3566160"/>
            <a:ext cx="237744" cy="23774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4297680"/>
            <a:ext cx="237744" cy="237744"/>
          </a:xfrm>
          <a:prstGeom prst="ellipse">
            <a:avLst/>
          </a:prstGeom>
          <a:solidFill>
            <a:srgbClr val="38BDF8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1280160"/>
            <a:ext cx="237744" cy="237744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0" y="2834640"/>
            <a:ext cx="237744" cy="237744"/>
          </a:xfrm>
          <a:prstGeom prst="ellipse">
            <a:avLst/>
          </a:prstGeom>
          <a:solidFill>
            <a:srgbClr val="38BDF8"/>
          </a:solidFill>
          <a:ln w="19050">
            <a:solidFill>
              <a:srgbClr val="0B11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全栈项目挑战赛 · 工程答辩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15544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驱动的电竞鼠标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 Agent 协作系统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LangGraph + 专业 Schema + MCP 数据采集 + 可追溯证据链的多 Agent 竞品分析平台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1257300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06240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53412" y="4206240"/>
            <a:ext cx="1046988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3412" y="4206240"/>
            <a:ext cx="1046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4206240"/>
            <a:ext cx="1362456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420624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4206240"/>
            <a:ext cx="626364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206240"/>
            <a:ext cx="62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82996" y="4206240"/>
            <a:ext cx="941832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2996" y="42062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抽取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9420" y="4206240"/>
            <a:ext cx="1572768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9420" y="42062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可追溯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26780" y="4206240"/>
            <a:ext cx="1572768" cy="292608"/>
          </a:xfrm>
          <a:prstGeom prst="roundRect">
            <a:avLst>
              <a:gd name="adj" fmla="val 18750"/>
            </a:avLst>
          </a:prstGeom>
          <a:solidFill>
            <a:srgbClr val="182542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6780" y="42062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团队：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[团队名占位]      </a:t>
            </a:r>
            <a:pPr indent="0" marL="0">
              <a:buNone/>
            </a:pPr>
            <a:r>
              <a:rPr lang="en-US" sz="12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成员：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[姓名 / 姓名 / 姓名 / 姓名]      </a:t>
            </a:r>
            <a:pPr indent="0" marL="0">
              <a:buNone/>
            </a:pPr>
            <a:r>
              <a:rPr lang="en-US" sz="12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方向：</a:t>
            </a:r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电竞外设 · 电竞鼠标竞品分析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152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&amp; ROLES · 分工说明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团队分工与协作方式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64008" cy="1709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4650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产品体验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4983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产品输入页、Workflow DAG 可视化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 Agent 详情页、最终报告页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AI 解读 + 人工修正交互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28216"/>
            <a:ext cx="64008" cy="1709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4650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/ 编排 / Schema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67128"/>
            <a:ext cx="4983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DAG 编排与状态流转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专业报告 Schema、质量门控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接口层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858768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986784"/>
            <a:ext cx="64008" cy="1709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005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/ MCP / LLM 抽取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425696"/>
            <a:ext cx="4983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OfficialSpec / Price / ReviewIntel MCP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官网规格、价格、评价的 LLM 结构化抽取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本地事实库与双路线评价库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858768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986784"/>
            <a:ext cx="64008" cy="17099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05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/ 文档 / 测试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4425696"/>
            <a:ext cx="49834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演示脚本、README、合规声明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faithfulness / traceability 等测试用例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答辩材料与录屏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77900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分工不是“各切一块页面”，而是围绕同一条数据链路（采集 → 证据 → 分析 → 校验 → 报告）协作。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· 课题理解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为什么竞品分析适合多 Agent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64008" cy="385876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传统人工竞品分析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信息源分散：官网、评测站、视频、社区、电商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人工对齐成本高：参数、口碑、价格、体验逐条手动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结论常无来源：“适合 FPS”“手感好”不可追溯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一致性差：不同分析人格式、口径都不同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28216"/>
            <a:ext cx="64008" cy="38587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我们的多 Agent 方案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2402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专职 Agent 分工：采集 / 结构化 / 分析 / 校验 / 报告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Schema：统一字段与输出结构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ID：每条结论必须引用证据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QualityAgent：缺数据就降可信度、不伪造结论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6053328"/>
            <a:ext cx="4901184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多 Agent 协作与输出可信度 35% · 业务价值与产品体验 20%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VERTICAL CHOICE · 垂直场景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从通用竞品分析到专业电竞鼠标 Schema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64008" cy="16642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4650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参数明确、可结构化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 / 尺寸 / 传感器 / DPI / 回报率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连接方式 / 续航 / 点击系统 / 驱动 / 板载内存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600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28216"/>
            <a:ext cx="64008" cy="16642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4650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体验依赖外部证据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67128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握法、手感、适合游戏、长期可靠性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不能写死，必须来自真实评价 / 测评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831336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959352"/>
            <a:ext cx="64008" cy="16642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977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价格会变 + 命名混乱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398264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实时价格须采集，不写死 JSON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GPX2 / 狗屁王 / Viper V4 Pro / DEX / 朱雀 需消歧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831336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959352"/>
            <a:ext cx="64008" cy="16642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9776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我们的数据策略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4398264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稳定硬件事实 → 本地 JSON（高可信底座）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 / 评价 / 测评 → MCP + LLM 实时采集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结论按“场景推荐”，不强行给唯一赢家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7607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Schema 比通用 Schema 更能展示结构化深度；换行业只需换 Schema，DAG 主流程不变。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· 系统说明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端到端系统架构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225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18254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 Frontend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71907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/ TypeScript / Vite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产品输入页 · Workflow DAG 可视化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详情页 · Evidence / Verification / Quality / Report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CSS/SVG 图表（无第三方图表库）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054096"/>
            <a:ext cx="0" cy="164592"/>
          </a:xfrm>
          <a:prstGeom prst="line">
            <a:avLst/>
          </a:prstGeom>
          <a:noFill/>
          <a:ln w="2540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21868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346704"/>
            <a:ext cx="64008" cy="1225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" y="3438144"/>
            <a:ext cx="384048" cy="384048"/>
          </a:xfrm>
          <a:prstGeom prst="ellipse">
            <a:avLst/>
          </a:prstGeom>
          <a:solidFill>
            <a:srgbClr val="182542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364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 Backend · Agent DAG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336499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接口层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StateGraph（7 Agent + SWOT 节点）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TypedDict State + Reducer 状态流转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专业报告 Schema（Pydantic 校验）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4700016"/>
            <a:ext cx="0" cy="164592"/>
          </a:xfrm>
          <a:prstGeom prst="line">
            <a:avLst/>
          </a:prstGeom>
          <a:noFill/>
          <a:ln w="2540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486460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4992624"/>
            <a:ext cx="64008" cy="1225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5084064"/>
            <a:ext cx="384048" cy="384048"/>
          </a:xfrm>
          <a:prstGeom prst="ellipse">
            <a:avLst/>
          </a:prstGeom>
          <a:solidFill>
            <a:srgbClr val="1825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010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工具层  Data · MCP · LLM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0" y="501091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本地产品事实库 JSON + 双路线评价库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OfficialSpec / Price / ReviewIntel MCP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LLM 结构化抽取 · Tavily 搜索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/ Claim / Report 结构化产物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6053328"/>
            <a:ext cx="2185416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技术深度与工程完整度 25%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 · 核心技术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DAG 多 Agent 工作流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调研规划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65376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62041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2041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62041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采集识别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60489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7154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7154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7154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证据结构化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55602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52267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2267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2267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50715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47381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47381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47381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事实校验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45829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42494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42494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42494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质量门控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40942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37607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937607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37607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解读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236055" y="2423160"/>
            <a:ext cx="96665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332720" y="19659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778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332720" y="211226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332720" y="2423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91718" y="2880360"/>
            <a:ext cx="0" cy="50292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07008" y="3383280"/>
            <a:ext cx="6984710" cy="0"/>
          </a:xfrm>
          <a:prstGeom prst="line">
            <a:avLst/>
          </a:prstGeom>
          <a:noFill/>
          <a:ln w="20320">
            <a:solidFill>
              <a:srgbClr val="FBBF2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207008" y="2880360"/>
            <a:ext cx="0" cy="502920"/>
          </a:xfrm>
          <a:prstGeom prst="line">
            <a:avLst/>
          </a:prstGeom>
          <a:noFill/>
          <a:ln w="20320">
            <a:solidFill>
              <a:srgbClr val="FBBF24"/>
            </a:solidFill>
            <a:prstDash val="solid"/>
            <a:headEnd type="triangle"/>
          </a:ln>
        </p:spPr>
      </p:sp>
      <p:sp>
        <p:nvSpPr>
          <p:cNvPr id="41" name="Text 39"/>
          <p:cNvSpPr/>
          <p:nvPr/>
        </p:nvSpPr>
        <p:spPr>
          <a:xfrm>
            <a:off x="566928" y="3447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反馈闭环：打回 Research / Collector / Evidence / Analysis（MAX_ITERATIONS=3）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416052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6928" y="4288536"/>
            <a:ext cx="64008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" y="430682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 DAG，非聊天式 Agent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04672" y="472744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StateGraph 显式节点 + 条件边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state 在节点间流转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346448" y="416052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46448" y="4288536"/>
            <a:ext cx="64008" cy="11612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8" name="Text 46"/>
          <p:cNvSpPr/>
          <p:nvPr/>
        </p:nvSpPr>
        <p:spPr>
          <a:xfrm>
            <a:off x="4584192" y="430682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前进 vs 反馈两条路径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584192" y="472744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通过/部分通过 → SWOT → Report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只在前进路径跑一次，不进重试环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125968" y="416052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25968" y="4288536"/>
            <a:ext cx="64008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2" name="Text 50"/>
          <p:cNvSpPr/>
          <p:nvPr/>
        </p:nvSpPr>
        <p:spPr>
          <a:xfrm>
            <a:off x="8363712" y="430682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不伪装成功、不默认阻塞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363712" y="472744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重试达上限 → 生成 partial_report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明确披露缺口，而非卡死等人工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6928" y="6035040"/>
            <a:ext cx="3666744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232" y="614019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60350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编排框架使用合理 · DAG 可视化可追溯（35%）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SEPARATION OF CONCERNS · 核心技术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只做一件事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225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ResearchAgent · 调研规划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Schema 规划需要哪些数据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不爬数据、不下结论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6448" y="157276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6448" y="1700784"/>
            <a:ext cx="64008" cy="1225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192" y="171907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CollectorAgent · 采集识别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4192" y="213969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实体消歧、读本地事实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 4 个 MCP 工具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5968" y="157276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5968" y="1700784"/>
            <a:ext cx="64008" cy="1225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363712" y="171907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EvidenceAgent · 证据结构化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3712" y="213969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evidence_id / source / credibility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只结构化，不做推荐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31012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438144"/>
            <a:ext cx="64008" cy="1225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45643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AnalysisAgent · 分析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387705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只分析有证据支撑的差异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/ 价格 / 体验对比 + SWOT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6448" y="331012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46448" y="3438144"/>
            <a:ext cx="64008" cy="1225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584192" y="345643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· 校验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84192" y="387705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claim 是否被 evidence 支撑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数值/词面 grounding，拦截幻觉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5968" y="331012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5968" y="3438144"/>
            <a:ext cx="64008" cy="1225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8363712" y="345643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QualityAgent · 质量门控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63712" y="387705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按缺口/弱支撑/风险算可信度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/ 有限通过 / 打回 / 降级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650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ReportAgent · 报告生成：只汇总“已验证”的结果，输出场景推荐 + 可追溯引用 + 风险披露。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6053328"/>
            <a:ext cx="3296412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角色划分清晰 · 职责边界明确无重叠（35%）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MESSAGING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间是 Schema 状态流转，不是自然语言聊天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40416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State（TypedDict + Reducer）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212848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selected_products / resolved_products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product_facts / official_spec_records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review_intel_records / price_records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evidence_list  ·  claims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faithfulness_report  ·  quality_result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final_report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reducers: merge_claims / merge_trace_log / merge_dict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5321808" cy="4297680"/>
          </a:xfrm>
          <a:prstGeom prst="roundRect">
            <a:avLst>
              <a:gd name="adj" fmla="val 1702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700784"/>
            <a:ext cx="64008" cy="40416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4710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谁产出什么（输入/输出固定字段）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47104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44144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522208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official_spec_records / price_records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47104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ReviewIntel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294436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522208" y="2788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review_intel_records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47104" y="32918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344728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522208" y="3291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evidence_list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47104" y="3794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95020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522208" y="3794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/ SWOT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47104" y="4297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0" y="445312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22208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unsupported_claim_ids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47104" y="4800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DD3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495604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522208" y="4800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quality_result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47104" y="5303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0" y="5458968"/>
            <a:ext cx="219456" cy="0"/>
          </a:xfrm>
          <a:prstGeom prst="line">
            <a:avLst/>
          </a:prstGeom>
          <a:noFill/>
          <a:ln w="1778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522208" y="5303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final_report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6053328"/>
            <a:ext cx="5394960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结构化消息传递（function calling / 标准 Schema）35%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 SCHEMA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电竞鼠标专业竞品 Schema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225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产品识别 ProductIdentity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官方型号 / 别名 / 变体 / 实体消歧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field_confidence 字段级可信度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6448" y="157276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6448" y="1700784"/>
            <a:ext cx="64008" cy="1225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192" y="171907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硬件事实 HardwareSpec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4192" y="213969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 / 传感器 / DPI / 回报率 / 连接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续航 / 点击系统 / 驱动 / 板载内存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5968" y="157276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5968" y="1700784"/>
            <a:ext cx="64008" cy="1225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363712" y="171907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评价测评 ReviewIntel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3712" y="213969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握感 / 手型 / 适合游戏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驱动口碑 / 长期可靠 / 社区口碑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31012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438144"/>
            <a:ext cx="64008" cy="1225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45643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实时价格 Pricing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387705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官方价 / 电商价 / 低可信来源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official_price_blocked 反爬标记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6448" y="331012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46448" y="3438144"/>
            <a:ext cx="64008" cy="1225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584192" y="345643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&amp; Claim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84192" y="387705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evidence_id / source_url / credibility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claim_id / dimension / evidence_ids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5968" y="3310128"/>
            <a:ext cx="3505200" cy="1481328"/>
          </a:xfrm>
          <a:prstGeom prst="roundRect">
            <a:avLst>
              <a:gd name="adj" fmla="val 493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5968" y="3438144"/>
            <a:ext cx="64008" cy="12252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9" name="Text 27"/>
          <p:cNvSpPr/>
          <p:nvPr/>
        </p:nvSpPr>
        <p:spPr>
          <a:xfrm>
            <a:off x="8363712" y="345643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Report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63712" y="3877056"/>
            <a:ext cx="3093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场景推荐 / 风险披露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 / 可追溯引用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5650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已清理旧的通用 schema，统一为 GamingMouseFinalReportSchema（Pydantic，extra=allow 兼容增量字段）。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053328"/>
            <a:ext cx="3543300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输出严格符合预定义竞品知识 Schema（35%）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 RESOLUTION · 功能说明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解决电竞鼠标命名混乱：实体消歧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问题：玩家简称 ≠ 官方型号，且变体多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GPX2 / 狗屁王2 / DEX / 朱雀 / Viper V4 Pro 容易混淆，还有 DEX、SUPERSTRIKE 等变体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871216"/>
            <a:ext cx="64008" cy="9326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88950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" y="33101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GPX2 / Viper V4 Pro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78608" y="3337560"/>
            <a:ext cx="2514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0068" y="27432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0068" y="2871216"/>
            <a:ext cx="64008" cy="9326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2958084" y="288950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本地命中?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58084" y="33101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aliases / community_aliases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1748" y="3337560"/>
            <a:ext cx="2514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3208" y="27432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93208" y="2871216"/>
            <a:ext cx="64008" cy="9326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5221224" y="288950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 → 稳定事实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21224" y="33101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JSON 高可信底座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04888" y="3337560"/>
            <a:ext cx="2514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56348" y="27432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56348" y="2871216"/>
            <a:ext cx="64008" cy="9326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7484364" y="288950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 → SearchMCP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84364" y="33101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只找官网候选，不写字段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68028" y="3337560"/>
            <a:ext cx="2514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9488" y="27432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19488" y="2871216"/>
            <a:ext cx="64008" cy="93268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9747504" y="288950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OfficialSpecMCP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47504" y="33101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从官网抽取规格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关键边界：SearchMCP 只负责“找候选”，硬件字段一律由 OfficialSpecMCP 从官网抽取——搜索结果不等于实体解析。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6053328"/>
            <a:ext cx="3049524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数据采集与知识结构化（35% / 25%）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STRATEGY · 功能说明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哪些写进 JSON，哪些必须实时采集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64008" cy="36758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写进本地 JSON（稳定事实底座）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官方型号 / 别名 / 官网 URL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 / DPI / 重量 / 连接方式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点击系统 / 续航等相对稳定字段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字段级可信度 field_confidence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28216"/>
            <a:ext cx="64008" cy="36758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必须实时采集（不写死）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5392" y="22860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实时价格（官方 / 电商，会变）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用户评价 / 博主测评（会变）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握法 / 手感 / 适合游戏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驱动口碑 / 长期可靠性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7150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原因：价格与口碑随时间变化、体验类结论必须来自真实外部证据——我们没有把结果写死。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TOOL LAYER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工具层如何工作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2984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SearchMCP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Tavily 官方搜索 API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未命中本地库时找官网/评测候选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00784"/>
            <a:ext cx="64008" cy="12984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OfficialSpecMCP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3969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抓官网页面 → LLM 抽取硬件规格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多来源字段级合并补齐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01568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529584"/>
            <a:ext cx="64008" cy="12984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478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PriceMCP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96849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官方价 / 电商价 / fallback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反爬拦截标记 + 离群价过滤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401568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529584"/>
            <a:ext cx="64008" cy="12984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5478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ReviewIntelMCP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3968496"/>
            <a:ext cx="4983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 / 测评 / 口碑信号抽取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reader 取正文绕反爬 + 跨源印证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800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统一工作原则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能从官网拿到的用高可信；电商/视频/搜索摘要作为低可信 fallback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被反爬时明确标记 blocked，绝不伪造数据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所有采集结果统一转成 evidence，进入同一条校验链路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3790188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端到端链路完整 · 信息采集合规（25% / 10%）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BOUNDARY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只做结构化抽取与总结，不替代流程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28216"/>
            <a:ext cx="64008" cy="36758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规则驱动（不用 LLM）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本地别名匹配 / JSON 事实读取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状态流转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ID 校验、数值 grounding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规则门控与扣分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28216"/>
            <a:ext cx="64008" cy="36758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驱动（受约束）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5392" y="22860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官网规格 / 价格页字段抽取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用户评价 / 博主测评摘要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AI 解读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人工反馈语义理解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5687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设计原则：LLM 只能基于已有 evidence / 网页内容总结，不能凭空补字段；所有输出必须结构化并带来源。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053328"/>
            <a:ext cx="2432304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幻觉抑制 · 技术深度（25%）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TRACEABILITY · 核心技术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每条结论都能追溯到证据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3858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evidence_id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/ dimension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source_type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source_url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credibility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raw_content / summary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3566160"/>
            <a:ext cx="50292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16052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572768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700784"/>
            <a:ext cx="64008" cy="38587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0056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56632" y="22402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claim_id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evidence_ids[]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2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generated_by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58200" y="1572768"/>
            <a:ext cx="3172968" cy="4114800"/>
          </a:xfrm>
          <a:prstGeom prst="roundRect">
            <a:avLst>
              <a:gd name="adj" fmla="val 2305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1700784"/>
            <a:ext cx="64008" cy="38587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8677656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0" y="22860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evidence_id 的结论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不进入正式推荐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低可信来源可展示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但必须标注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被反爬 / 未采集 / 缺字段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一律披露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3543300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信息溯源完整 · 一键跳转 / 溯源查看（35%）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FAITHFULNESS · 核心技术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VerificationAgent：事实校验与幻觉抑制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2527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 grounding（硬失败）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4983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里的关键数字必须能在所引证据中找到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 → not_supported，硬拦截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00784"/>
            <a:ext cx="64008" cy="1252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词面 grounding（弱支撑）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39696"/>
            <a:ext cx="4983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覆盖率低 → weak，不硬拦但降可信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避免误杀合理的中文转述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3375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465576"/>
            <a:ext cx="64008" cy="1252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4838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价格类特判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904488"/>
            <a:ext cx="4983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按所引证据可信度判定强弱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反爬/低可信来源 → 弱支撑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3375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465576"/>
            <a:ext cx="64008" cy="12527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4838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人工反馈特判（新增）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3904488"/>
            <a:ext cx="4983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仅人工证据 → 待验证，不能自证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需非人工证据同向才升为支撑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三档结果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 → 进入报告   ·   弱支撑 → 进入但降可信   ·   不支撑 → 拦截，不进最终推荐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4654296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输出可信度 · 幻觉抑制（引用强制 / 自一致性）35% / 25%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GATE · 核心技术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QualityAgent：质量门控与反馈闭环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3505200" cy="1143000"/>
          </a:xfrm>
          <a:prstGeom prst="roundRect">
            <a:avLst>
              <a:gd name="adj" fmla="val 64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682496"/>
            <a:ext cx="64008" cy="8869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0078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121408"/>
            <a:ext cx="309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证据完整，可生成报告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6448" y="1554480"/>
            <a:ext cx="3505200" cy="1143000"/>
          </a:xfrm>
          <a:prstGeom prst="roundRect">
            <a:avLst>
              <a:gd name="adj" fmla="val 64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6448" y="1682496"/>
            <a:ext cx="64008" cy="8869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192" y="170078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approved_with_limitations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4192" y="2121408"/>
            <a:ext cx="309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可生成，但有弱支撑/缺口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5968" y="1554480"/>
            <a:ext cx="3505200" cy="1143000"/>
          </a:xfrm>
          <a:prstGeom prst="roundRect">
            <a:avLst>
              <a:gd name="adj" fmla="val 64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5968" y="1682496"/>
            <a:ext cx="64008" cy="88696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8363712" y="170078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partial_report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3712" y="2121408"/>
            <a:ext cx="3093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重试达上限仍不足 → 有限报告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2971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099816"/>
            <a:ext cx="64008" cy="2487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评分是“报告可信度”，非产品评分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584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max(0, 90 − 扣分 − 待补惩罚)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023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失败检查项 ×10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高风险项 min(20, n×4)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缺失维度 min(12, n×4)</a:t>
            </a:r>
            <a:endParaRPr lang="en-US" sz="11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 数据 / 弱价格 / 弱测评惩罚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971800"/>
            <a:ext cx="5367528" cy="2743200"/>
          </a:xfrm>
          <a:prstGeom prst="roundRect">
            <a:avLst>
              <a:gd name="adj" fmla="val 2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099816"/>
            <a:ext cx="64008" cy="24871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501384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反馈机制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584448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可打回 Collector / Evidence / Analysis / Research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不默认人工阻塞，达上限自动降级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人工反馈作为 evidence 进入校验链路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人工输入不计入维度覆盖，刷不了分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HUMAN-IN-THE-LOOP · 功能说明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AI 解读 + 人工修正闭环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19656"/>
            <a:ext cx="64008" cy="7955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18254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人工输入现场判断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217420"/>
            <a:ext cx="2133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632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6328" y="1819656"/>
            <a:ext cx="64008" cy="7955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2632" y="1837944"/>
            <a:ext cx="310896" cy="310896"/>
          </a:xfrm>
          <a:prstGeom prst="ellipse">
            <a:avLst/>
          </a:prstGeom>
          <a:solidFill>
            <a:srgbClr val="182542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263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2632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转为 HF evidence + HCL claim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2368" y="2217420"/>
            <a:ext cx="2133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0572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5728" y="1819656"/>
            <a:ext cx="64008" cy="7955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2032" y="1837944"/>
            <a:ext cx="310896" cy="310896"/>
          </a:xfrm>
          <a:prstGeom prst="ellipse">
            <a:avLst/>
          </a:prstGeom>
          <a:solidFill>
            <a:srgbClr val="18254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203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2032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 Verification → Quality → SWOT → Report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11768" y="2217420"/>
            <a:ext cx="2133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2512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25128" y="1819656"/>
            <a:ext cx="64008" cy="7955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9171432" y="1837944"/>
            <a:ext cx="310896" cy="310896"/>
          </a:xfrm>
          <a:prstGeom prst="ellipse">
            <a:avLst/>
          </a:prstGeom>
          <a:solidFill>
            <a:srgbClr val="182542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143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71432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/ 场景推荐更新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31089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3236976"/>
            <a:ext cx="64008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325526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人工输入不直接覆盖报告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4672" y="367588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先变成 evidence/claim 走校验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与现有结论一致才升为支撑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46448" y="31089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46448" y="3236976"/>
            <a:ext cx="64008" cy="11612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6" name="Text 34"/>
          <p:cNvSpPr/>
          <p:nvPr/>
        </p:nvSpPr>
        <p:spPr>
          <a:xfrm>
            <a:off x="4584192" y="325526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进 DAG，证据被校验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84192" y="367588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自报的 evidence_id 与真实证据取交集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虚构编号被剔除、未绑定标“待绑定”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25968" y="310896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25968" y="3236976"/>
            <a:ext cx="64008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0" name="Text 38"/>
          <p:cNvSpPr/>
          <p:nvPr/>
        </p:nvSpPr>
        <p:spPr>
          <a:xfrm>
            <a:off x="8363712" y="325526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支持现场互动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63712" y="367588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专家可补“Viper 更适合 FPS”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展示人机协作 + 决策回放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6928" y="6035040"/>
            <a:ext cx="4777740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614019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60350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产品体验 · 反馈闭环 · Agent 决策回放（20% / 35%）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UX · 产品体验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前端如何展示 Agent 协作过程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344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产品输入页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4983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输入两款竞品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不提前展示分析结果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00784"/>
            <a:ext cx="64008" cy="13441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Workflow 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39696"/>
            <a:ext cx="4983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DAG 可视化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卡片可点击 + MCP 状态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47288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575304"/>
            <a:ext cx="64008" cy="13441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935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Agent 详情页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014216"/>
            <a:ext cx="4983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 / 证据 / 风险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的任务贡献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447288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575304"/>
            <a:ext cx="64008" cy="13441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5935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最终报告页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4014216"/>
            <a:ext cx="4983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场景推荐 + Evidence 引用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 + 人工修正记录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892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设计取向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工具型布局（参考 eloshapes）· 深色科技风 · 高信息密度 · 自研图表非营销 landing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3666744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交互设计流畅 · Agent 决策回放易用（20%）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ENGINEERING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LangGraph + Service 分层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3904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目录结构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19456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api/routes.py        分析 / 报告 / trace / swot / feedback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orchestration/       workflow.py  (LangGraph DAG) · state.py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              research · collector · evidence · analysis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verification · quality · report · analysis_ai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            catalog · 4×MCP · scoring · faithfulness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context_manager · metrics · review_intel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schemas/             gaming_mouse 专业报告 Schema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29400" y="1572768"/>
            <a:ext cx="5001768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1700784"/>
            <a:ext cx="64008" cy="3904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67144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22402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只负责流程节点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负责可复用工具能力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保证结构稳定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run_node 统一错误兜底 + trace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trace_log 记录每个 Agent 输入输出摘要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6053328"/>
            <a:ext cx="2061972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代码质量与模块化（10%）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MANAGEMENT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上下文管理与长文本处理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11096"/>
            <a:ext cx="64008" cy="10241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96596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(全部证据)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2423160"/>
            <a:ext cx="2133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6328" y="1783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6328" y="1911096"/>
            <a:ext cx="64008" cy="10241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3514344" y="196596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Selector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select_evidence_context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92368" y="2423160"/>
            <a:ext cx="2133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5728" y="1783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5728" y="1911096"/>
            <a:ext cx="64008" cy="10241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744" y="196596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裁剪后子集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max_items=18 / per_dim=4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11768" y="2423160"/>
            <a:ext cx="213360" cy="0"/>
          </a:xfrm>
          <a:prstGeom prst="line">
            <a:avLst/>
          </a:prstGeom>
          <a:noFill/>
          <a:ln w="2032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25128" y="1783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25128" y="1911096"/>
            <a:ext cx="64008" cy="10241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9153144" y="196596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JSON 输出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42900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557016"/>
            <a:ext cx="64008" cy="116128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57530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399592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爬虫/测评正文很长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输入不能无限增长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6448" y="342900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46448" y="3557016"/>
            <a:ext cx="64008" cy="1161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4584192" y="357530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84192" y="399592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Agent 任务选相关 evidence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 max_items / per_dimension / chars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长转写按关键词密度抽相关段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25968" y="3429000"/>
            <a:ext cx="3505200" cy="1417320"/>
          </a:xfrm>
          <a:prstGeom prst="roundRect">
            <a:avLst>
              <a:gd name="adj" fmla="val 516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25968" y="3557016"/>
            <a:ext cx="64008" cy="1161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8363712" y="357530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3712" y="3995928"/>
            <a:ext cx="3093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 token、减干扰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防超时、提稳定性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6035040"/>
            <a:ext cx="2555748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614019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60350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上下文管理 · 技术深度（25%）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PRICEMCP · 功能说明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实时价格采集与反爬合规降级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31673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采集优先级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优先官方价（高可信）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官方被拦 → official_price_blocked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电商/公开价作为低可信 fallback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00784"/>
            <a:ext cx="64008" cy="1316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可信度规则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396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官方价 vs 官方价 → 高可信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电商价 vs 电商价 → 中/低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YouTube/非电商 不作高可信价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015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529584"/>
            <a:ext cx="64008" cy="131673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478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9684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离群价 / 分期 / 配件价过滤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锚定中位价，抗污染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4015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529584"/>
            <a:ext cx="64008" cy="131673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5478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结论约束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39684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一方缺失 → 不输出强性价比结论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价格来源统一进入 evidence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956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我们不是绕过反爬，而是合规降级 + 风险披露：拿不到就标“被反爬拦截”，并在报告可信度里扣分。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035040"/>
            <a:ext cx="3543300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614019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0350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信息采集合规 · 端到端链路（10% / 25%）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REVIEWINTELMCP · 功能说明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 / 测评采集：双路线 + 体验信号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984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双路线（demo 对比展示）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1945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本地评价库：GPX2 命中即时返回、满维度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实时爬取：Viper V4 Pro 走 search→reader→LLM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reader 取正文绕反爬/读视频字幕 + 跨源印证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72768"/>
            <a:ext cx="5367528" cy="2240280"/>
          </a:xfrm>
          <a:prstGeom prst="roundRect">
            <a:avLst>
              <a:gd name="adj" fmla="val 3265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00784"/>
            <a:ext cx="64008" cy="19842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01384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六类体验信号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2240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grip_feel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hand_size_fit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game_type_fit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98280" y="22402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driver_reputation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long_term_reliability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community_sentiment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35052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151376"/>
            <a:ext cx="64008" cy="841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16966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多来源印证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590288"/>
            <a:ext cx="309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个独立来源 → high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6448" y="4023360"/>
            <a:ext cx="35052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6448" y="4151376"/>
            <a:ext cx="64008" cy="8412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4584192" y="416966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单一来源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4192" y="4590288"/>
            <a:ext cx="309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5968" y="4023360"/>
            <a:ext cx="35052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25968" y="4151376"/>
            <a:ext cx="64008" cy="84124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8363712" y="416966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搜索摘要 / 社区片段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3712" y="4590288"/>
            <a:ext cx="309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low（仅供参考）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605332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数据覆盖度 · 结构化知识抽取（25%）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REPORT · 结果说明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不强行给唯一赢家，而是按场景推荐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73936"/>
            <a:ext cx="64008" cy="6126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645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追求极限 FPS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6996" y="1645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6996" y="1773936"/>
            <a:ext cx="64008" cy="6126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598164" y="1645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追求轻量化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7064" y="1645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1773936"/>
            <a:ext cx="64008" cy="6126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645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无线续航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7132" y="1645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7132" y="1773936"/>
            <a:ext cx="64008" cy="6126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9258300" y="1645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驱动与可调性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2788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2916936"/>
            <a:ext cx="64008" cy="61264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2788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预算敏感（官方/电商）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96996" y="2788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96996" y="2916936"/>
            <a:ext cx="64008" cy="61264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4" name="Text 22"/>
          <p:cNvSpPr/>
          <p:nvPr/>
        </p:nvSpPr>
        <p:spPr>
          <a:xfrm>
            <a:off x="3598164" y="2788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手感 / 握法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27064" y="2788920"/>
            <a:ext cx="2574036" cy="868680"/>
          </a:xfrm>
          <a:prstGeom prst="roundRect">
            <a:avLst>
              <a:gd name="adj" fmla="val 842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27064" y="2916936"/>
            <a:ext cx="64008" cy="6126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2788920"/>
            <a:ext cx="22082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长期可靠性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40233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为什么不只给“谁赢”：电竞鼠标选择高度依赖场景，FPS/续航/轻量/驱动/预算/手感答案可能各不相同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原则：有证据才推荐 · 缺证据就标“数据不足” · 人工反馈可进入修正链路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6035040"/>
            <a:ext cx="2432304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614019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60350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业务价值 · 产品体验（20%）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DEMO · 演示路径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现场演示：两条数据路线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20299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 A · 本地命中（即时高可信）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40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GPX2 / Logitech G Pro X Superlight 2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本地硬件事实高可信底座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本地评价库满维度体验证据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572768"/>
            <a:ext cx="5431536" cy="2286000"/>
          </a:xfrm>
          <a:prstGeom prst="roundRect">
            <a:avLst>
              <a:gd name="adj" fmla="val 32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700784"/>
            <a:ext cx="64008" cy="20299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 B · 非本地走 MCP（实时）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22402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Razer Viper V4 Pro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Search→官网候选→OfficialSpec 抽规格</a:t>
            </a:r>
            <a:endParaRPr lang="en-US" sz="12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 采集（遇反爬低可信披露）+ ReviewIntel 实时抽取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产品输入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65376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62041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74105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4105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2041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DAG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0489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57154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9218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69218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7154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55602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52267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4331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4331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2267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50715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147381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59445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9445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7381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45829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42494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54558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54558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42494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840942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937607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49671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49671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937607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人工反馈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236055" y="4686300"/>
            <a:ext cx="96665" cy="0"/>
          </a:xfrm>
          <a:prstGeom prst="line">
            <a:avLst/>
          </a:prstGeom>
          <a:noFill/>
          <a:ln w="15240">
            <a:solidFill>
              <a:srgbClr val="33425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332720" y="42976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31D31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44784" y="4389120"/>
            <a:ext cx="274320" cy="274320"/>
          </a:xfrm>
          <a:prstGeom prst="ellipse">
            <a:avLst/>
          </a:prstGeom>
          <a:solidFill>
            <a:srgbClr val="182542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44784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332720" y="470916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最终报告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· 结果说明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项目完成情况与效果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3904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已完成（功能完成度）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12848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多 Agent DAG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专业电竞鼠标 Schema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本地事实库 + 双路线评价库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/ OfficialSpec / Price / ReviewIntel MCP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/ Claim / Report 结构化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 防幻觉 + Quality 门控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Workflow 可视化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进 DAG + 人工修正闭环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8040" y="1572768"/>
            <a:ext cx="445312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78040" y="1700784"/>
            <a:ext cx="64008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79208" y="1682496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06840" y="15727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对比人工数小时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2633472"/>
            <a:ext cx="445312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2761488"/>
            <a:ext cx="64008" cy="6583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79208" y="274320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06840" y="26334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结论绑定 evidence_id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78040" y="3694176"/>
            <a:ext cx="445312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3822192"/>
            <a:ext cx="64008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379208" y="3803904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06840" y="369417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场景化推荐维度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4754880"/>
            <a:ext cx="4453128" cy="9144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78040" y="4882896"/>
            <a:ext cx="64008" cy="6583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7379208" y="4864608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伪造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06840" y="4754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缺数据→降级披露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6053328"/>
            <a:ext cx="3296412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工程完整度 · 业务价值（25% / 20%）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可观测性与 Token 成本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3904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402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的 trace_log（step / status / 摘要 / 耗时）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run_node 统一记录 duration_ms 与 error_log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/ Claim / Quality / Report 全可查看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LangSmith 全链路 trace（已开 TRACING_V2）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5413248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700784"/>
            <a:ext cx="64008" cy="3904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规划补充（Observability 页）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耗时 + MCP 调用次数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completion / total tokens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estimated cost 估算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LangSmith trace 跳转按钮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687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说明：LangSmith 用于深度 trace；项目内页面用于稳定答辩展示（不依赖现场网络）。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6053328"/>
            <a:ext cx="3419856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可观测性达标 · Token 消耗可查（25%）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COMPLIANCE · 合规声明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信息采集合规与数据安全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131673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采集合规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只采集公开网页信息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遇反爬不绕过 → 标 blocked / 低可信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 Tavily 官方搜索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1700784"/>
            <a:ext cx="64008" cy="131673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719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1396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不抓取隐私数据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人工输入仅作当前任务 evidence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不入仓（.env / .gitignore）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4015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529584"/>
            <a:ext cx="64008" cy="131673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5478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来源留痕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9684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外部数据保留 source_url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附可信度标记，可回溯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3401568"/>
            <a:ext cx="5394960" cy="1572768"/>
          </a:xfrm>
          <a:prstGeom prst="roundRect">
            <a:avLst>
              <a:gd name="adj" fmla="val 4651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3529584"/>
            <a:ext cx="64008" cy="131673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5478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风险披露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952" y="3968496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视频字幕/API 可能受限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电商价格区域差异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搜索摘要不作强证据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95604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原则：抓不到就如实标“未抓取 / 被反爬”，绝不编造；合规优先于覆盖率。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035040"/>
            <a:ext cx="2061972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614019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0350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合规、材料与答辩（10%）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PROBLEMS · 技术说明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我们遇到的真实问题与解决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E1626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19072"/>
            <a:ext cx="54864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276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6276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结果像写死、Agent 秒出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956816"/>
            <a:ext cx="201168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63640" y="16276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区分本地快评与 Agent 最终分析；接 MCP/LLM 后真实耗时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5915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450592"/>
            <a:ext cx="54864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5915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359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证据数量 / 质量分固定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688336"/>
            <a:ext cx="201168" cy="0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263640" y="235915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 mock，改由真实 evidence / pending / weak 驱动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0906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E1626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82112"/>
            <a:ext cx="54864" cy="475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09067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09067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搜索候选 ≠ 实体解析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419856"/>
            <a:ext cx="201168" cy="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263640" y="309067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SearchMCP 只找候选，OfficialSpec 负责抽规格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8221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913632"/>
            <a:ext cx="54864" cy="4754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82219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82219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非本地产品无法分析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151376"/>
            <a:ext cx="201168" cy="0"/>
          </a:xfrm>
          <a:prstGeom prst="line">
            <a:avLst/>
          </a:prstGeom>
          <a:noFill/>
          <a:ln w="1778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263640" y="38221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允许任意输入，未命中走 Search / 官网 MCP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55371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E1626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645152"/>
            <a:ext cx="54864" cy="47548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5537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455371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可能编造体验结论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43600" y="4882896"/>
            <a:ext cx="201168" cy="0"/>
          </a:xfrm>
          <a:prstGeom prst="line">
            <a:avLst/>
          </a:prstGeom>
          <a:noFill/>
          <a:ln w="1778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263640" y="455371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evidence_id 强制 + Verification 拦截 + Quality 降级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52852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376672"/>
            <a:ext cx="54864" cy="47548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52852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52852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前端信息过载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43600" y="5614416"/>
            <a:ext cx="201168" cy="0"/>
          </a:xfrm>
          <a:prstGeom prst="line">
            <a:avLst/>
          </a:prstGeom>
          <a:noFill/>
          <a:ln w="1778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263640" y="52852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卡片折叠、点击详情、DAG 可视化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6080760"/>
            <a:ext cx="3419856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618591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608076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工程完整度 · 错误恢复 · 幻觉抑制（25%）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 MAPPING · 总结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评分标准逐项对应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4572000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3904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 35%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Agent + SWOT 节点 · LangGraph DAG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state · Quality 反馈闭环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全程可追溯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49240" y="1572768"/>
            <a:ext cx="3035808" cy="1938528"/>
          </a:xfrm>
          <a:prstGeom prst="roundRect">
            <a:avLst>
              <a:gd name="adj" fmla="val 377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49240" y="1700784"/>
            <a:ext cx="64008" cy="16824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5550408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技术深度 25%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86984" y="2139696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+ LLM 结构化抽取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上下文裁剪 · Verification 防幻觉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降级机制 · LangSmith 可观测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49640" y="1572768"/>
            <a:ext cx="3035808" cy="1938528"/>
          </a:xfrm>
          <a:prstGeom prst="roundRect">
            <a:avLst>
              <a:gd name="adj" fmla="val 377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700784"/>
            <a:ext cx="64008" cy="16824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750808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 20%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87384" y="2139696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竞品分析自动化 · 专业 Schema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场景推荐 · 人工修正闭环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3694176"/>
            <a:ext cx="3035808" cy="1938528"/>
          </a:xfrm>
          <a:prstGeom prst="roundRect">
            <a:avLst>
              <a:gd name="adj" fmla="val 377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3822192"/>
            <a:ext cx="64008" cy="16824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5550408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代码与文档 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6984" y="4261104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前后端模块化 · Service 分层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/ 架构 / 协议 / Schema 文档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9640" y="3694176"/>
            <a:ext cx="3035808" cy="1938528"/>
          </a:xfrm>
          <a:prstGeom prst="roundRect">
            <a:avLst>
              <a:gd name="adj" fmla="val 3774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49640" y="3822192"/>
            <a:ext cx="64008" cy="168249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5" name="Text 23"/>
          <p:cNvSpPr/>
          <p:nvPr/>
        </p:nvSpPr>
        <p:spPr>
          <a:xfrm>
            <a:off x="8750808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10%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87384" y="4261104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 · 反爬降级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 · 来源留痕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EXTENSIBILITY · 未来展望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从电竞鼠标到通用竞品分析平台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55648"/>
            <a:ext cx="64008" cy="34015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换行业，只换两样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替换该行业专业 Schema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替换数据需求配置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ResearchAgent 自动按新 Schema 规划需求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CollectorAgent 复用 MCP 工具层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Evidence/Verification/Quality/Report 不变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627632"/>
            <a:ext cx="5733288" cy="3657600"/>
          </a:xfrm>
          <a:prstGeom prst="roundRect">
            <a:avLst>
              <a:gd name="adj" fmla="val 2000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0" y="1755648"/>
            <a:ext cx="64008" cy="34015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135624" y="1810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可拓展方向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35624" y="23774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2505456"/>
            <a:ext cx="64008" cy="8412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短视频软件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33104" y="23774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33104" y="2505456"/>
            <a:ext cx="64008" cy="8412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9015984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产品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35624" y="370332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3831336"/>
            <a:ext cx="64008" cy="841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318504" y="3703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电商平台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33104" y="370332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33104" y="3831336"/>
            <a:ext cx="64008" cy="8412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9015984" y="3703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 / 数码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55321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比通用 Schema 更专业，比完全定制更可拓展。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DELIVERABLES · 补充材料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提交材料与 Demo 备份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700784"/>
            <a:ext cx="64008" cy="3904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提交清单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402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仓库（结构清晰、分支规范）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角色与协议文档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文档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合规声明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分钟以内 Demo 录屏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5413248" cy="4160520"/>
          </a:xfrm>
          <a:prstGeom prst="roundRect">
            <a:avLst>
              <a:gd name="adj" fmla="val 1758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700784"/>
            <a:ext cx="64008" cy="3904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录屏结构（防断网）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产品输入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Agent DAG 运行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MCP 数据采集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Evidence 追溯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Verification / Quality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人工反馈修正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最终报告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6053328"/>
            <a:ext cx="2185416" cy="310896"/>
          </a:xfrm>
          <a:prstGeom prst="roundRect">
            <a:avLst>
              <a:gd name="adj" fmla="val 17647"/>
            </a:avLst>
          </a:prstGeom>
          <a:solidFill>
            <a:srgbClr val="182542"/>
          </a:solidFill>
          <a:ln w="12700">
            <a:solidFill>
              <a:srgbClr val="3342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615848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605332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  提交材料完整、规范（10%）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电竞鼠标竞品分析 · Agent 协作系统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64208"/>
            <a:ext cx="54864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为什么不做通用竞品分析？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Schema 更能展示结构化深度与分级可信；主流程可换行业复用。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505456"/>
            <a:ext cx="54864" cy="5303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688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怎么防止 LLM 幻觉？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7797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只抽取/总结；结论必绑 evidence_id；数值 grounding + Verification 拦截 + Quality 降级。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23697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346704"/>
            <a:ext cx="54864" cy="5303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1012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为什么有些数据低可信？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3621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官网价/视频可能被反爬或来源不稳；不伪造成高可信，而是风险披露 + 扣分。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07822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87952"/>
            <a:ext cx="54864" cy="5303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513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QualityAgent 真会打回吗？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4622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 evidence / unsupported / Schema 不全会打回上游；达上限生成 partial_report。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91947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29200"/>
            <a:ext cx="54864" cy="53035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926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人工输入会不会刷分？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3035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人工证据低可信、待验证，不计入维度覆盖，需非人工证据同向才升支撑。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7607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31D31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5870448"/>
            <a:ext cx="54864" cy="530352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833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怎么拓展到其他行业？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新增专业 Schema + 数据需求配置，DAG 与 Agent 协作复用。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9802368" y="1298448"/>
            <a:ext cx="1188720" cy="73152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2368" y="1298448"/>
            <a:ext cx="914400" cy="210312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1298448"/>
            <a:ext cx="1645920" cy="118872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436608" y="2029968"/>
            <a:ext cx="1554480" cy="73152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893808" y="2029968"/>
            <a:ext cx="1097280" cy="228600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36608" y="2761488"/>
            <a:ext cx="1280160" cy="64008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36608" y="2487168"/>
            <a:ext cx="2011680" cy="27432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893808" y="3401568"/>
            <a:ext cx="822960" cy="91440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893808" y="2487168"/>
            <a:ext cx="1554480" cy="1828800"/>
          </a:xfrm>
          <a:prstGeom prst="line">
            <a:avLst/>
          </a:prstGeom>
          <a:noFill/>
          <a:ln w="12700">
            <a:solidFill>
              <a:srgbClr val="2632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1188720"/>
            <a:ext cx="219456" cy="21945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1920240"/>
            <a:ext cx="219456" cy="21945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2651760"/>
            <a:ext cx="219456" cy="21945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0" y="3291840"/>
            <a:ext cx="219456" cy="21945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4206240"/>
            <a:ext cx="219456" cy="21945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0" y="2377440"/>
            <a:ext cx="219456" cy="21945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49808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感谢评委老师 · 欢迎体验 Demo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4114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项目仓库：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[GitHub 链接占位]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视频：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[链接占位]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DA0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[姓名 / 姓名 / 姓名 / 姓名]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驱动的电竞鼠标竞品分析 Agent 协作系统</dc:title>
  <dc:subject>PptxGenJS Presentation</dc:subject>
  <dc:creator>电竞鼠标竞品分析 Agent 团队</dc:creator>
  <cp:lastModifiedBy>电竞鼠标竞品分析 Agent 团队</cp:lastModifiedBy>
  <cp:revision>1</cp:revision>
  <dcterms:created xsi:type="dcterms:W3CDTF">2026-06-22T18:18:43Z</dcterms:created>
  <dcterms:modified xsi:type="dcterms:W3CDTF">2026-06-22T18:18:43Z</dcterms:modified>
</cp:coreProperties>
</file>